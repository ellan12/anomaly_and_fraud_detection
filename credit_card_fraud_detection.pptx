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?>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70" d="100"/>
          <a:sy n="170" d="100"/>
        </p:scale>
        <p:origin x="504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notesMasters/_rels/notesMaster1.xml.rels><?xml version="1.0" encoding="UTF-8"?>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31862249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?>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?>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?>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5.xml.rels><?xml version="1.0" encoding="UTF-8"?>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?>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.png"/></Relationships>
</file>

<file path=ppt/slides/_rels/slide7.xml.rels><?xml version="1.0" encoding="UTF-8"?>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?>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?>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?>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0.png"/></Relationships>
</file>

<file path=ppt/slides/_rels/slide11.xml.rels><?xml version="1.0" encoding="UTF-8"?>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?>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65760" cy="5143500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365760" y="4343400"/>
            <a:ext cx="8778240" cy="800100"/>
          </a:xfrm>
          <a:prstGeom prst="rect">
            <a:avLst/>
          </a:prstGeom>
          <a:solidFill>
            <a:srgbClr val="2A3D8F"/>
          </a:solidFill>
          <a:ln w="12700">
            <a:solidFill>
              <a:srgbClr val="2A3D8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640080" y="548640"/>
            <a:ext cx="804672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Credit Card</a:t>
            </a:r>
            <a:endParaRPr lang="en-US" sz="4600" dirty="0"/>
          </a:p>
          <a:p>
            <a:pPr marL="0" indent="0">
              <a:buNone/>
            </a:pPr>
            <a:r>
              <a:rPr lang="en-US" sz="4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Fraud Detection</a:t>
            </a:r>
            <a:endParaRPr lang="en-US" sz="4600" dirty="0"/>
          </a:p>
        </p:txBody>
      </p:sp>
      <p:sp>
        <p:nvSpPr>
          <p:cNvPr id="5" name="Shape 3"/>
          <p:cNvSpPr/>
          <p:nvPr/>
        </p:nvSpPr>
        <p:spPr>
          <a:xfrm>
            <a:off x="640080" y="2651760"/>
            <a:ext cx="5029200" cy="45720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640080" y="278892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i="1" dirty="0">
                <a:solidFill>
                  <a:srgbClr val="C8D9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Anomaly Detection  ·  Class Imbalance Handling  ·  Feature Discrimination  ·  Temporal Validation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640080" y="333756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C8D9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Isolation Forest  ·  SMOTE + Random Forest  ·  Walk-Forward CV  ·  PSI Drift Monitoring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40080" y="4416552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C8D9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Portfolio Project  ·  Python · scikit-learn · statsmodels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EDF0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566928"/>
            <a:ext cx="82296" cy="4576572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201168" y="0"/>
            <a:ext cx="8778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Challenge: Extreme Class Imbalance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28600" y="749808"/>
            <a:ext cx="2514600" cy="1325880"/>
          </a:xfrm>
          <a:prstGeom prst="rect">
            <a:avLst/>
          </a:prstGeom>
          <a:solidFill>
            <a:srgbClr val="FFFFFF"/>
          </a:solidFill>
          <a:ln w="9525">
            <a:solidFill>
              <a:srgbClr val="C5CFE8"/>
            </a:solidFill>
            <a:prstDash val="solid"/>
          </a:ln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228600" y="822960"/>
            <a:ext cx="25146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284,807</a:t>
            </a:r>
            <a:endParaRPr lang="en-US" sz="3800" dirty="0"/>
          </a:p>
        </p:txBody>
      </p:sp>
      <p:sp>
        <p:nvSpPr>
          <p:cNvPr id="7" name="Text 5"/>
          <p:cNvSpPr/>
          <p:nvPr/>
        </p:nvSpPr>
        <p:spPr>
          <a:xfrm>
            <a:off x="228600" y="1572768"/>
            <a:ext cx="2514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credit card transactions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200400" y="749808"/>
            <a:ext cx="2514600" cy="1325880"/>
          </a:xfrm>
          <a:prstGeom prst="rect">
            <a:avLst/>
          </a:prstGeom>
          <a:solidFill>
            <a:srgbClr val="FFFFFF"/>
          </a:solidFill>
          <a:ln w="9525">
            <a:solidFill>
              <a:srgbClr val="C5CFE8"/>
            </a:solidFill>
            <a:prstDash val="solid"/>
          </a:ln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3200400" y="822960"/>
            <a:ext cx="25146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8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577 : 1</a:t>
            </a:r>
            <a:endParaRPr lang="en-US" sz="3800" dirty="0"/>
          </a:p>
        </p:txBody>
      </p:sp>
      <p:sp>
        <p:nvSpPr>
          <p:cNvPr id="10" name="Text 8"/>
          <p:cNvSpPr/>
          <p:nvPr/>
        </p:nvSpPr>
        <p:spPr>
          <a:xfrm>
            <a:off x="3200400" y="1572768"/>
            <a:ext cx="2514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imbalance ratio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172200" y="749808"/>
            <a:ext cx="2514600" cy="1325880"/>
          </a:xfrm>
          <a:prstGeom prst="rect">
            <a:avLst/>
          </a:prstGeom>
          <a:solidFill>
            <a:srgbClr val="FFFFFF"/>
          </a:solidFill>
          <a:ln w="9525">
            <a:solidFill>
              <a:srgbClr val="C5CFE8"/>
            </a:solidFill>
            <a:prstDash val="solid"/>
          </a:ln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6172200" y="822960"/>
            <a:ext cx="25146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800" b="1" dirty="0">
                <a:solidFill>
                  <a:srgbClr val="E67E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0.17%</a:t>
            </a:r>
            <a:endParaRPr lang="en-US" sz="3800" dirty="0"/>
          </a:p>
        </p:txBody>
      </p:sp>
      <p:sp>
        <p:nvSpPr>
          <p:cNvPr id="13" name="Text 11"/>
          <p:cNvSpPr/>
          <p:nvPr/>
        </p:nvSpPr>
        <p:spPr>
          <a:xfrm>
            <a:off x="6172200" y="1572768"/>
            <a:ext cx="2514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fraud rate  (492 cases)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228600" y="2286000"/>
            <a:ext cx="8686800" cy="2633472"/>
          </a:xfrm>
          <a:prstGeom prst="rect">
            <a:avLst/>
          </a:prstGeom>
          <a:solidFill>
            <a:srgbClr val="FFFFFF"/>
          </a:solidFill>
          <a:ln w="9525">
            <a:solidFill>
              <a:srgbClr val="C5CFE8"/>
            </a:solidFill>
            <a:prstDash val="solid"/>
          </a:ln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228600" y="2286000"/>
            <a:ext cx="64008" cy="2633472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411480" y="2395728"/>
            <a:ext cx="8321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standard metrics fail on this dataset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411480" y="2788920"/>
            <a:ext cx="822960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5000"/>
              </a:lnSpc>
              <a:buNone/>
            </a:pPr>
            <a:r>
              <a:rPr lang="en-US" sz="135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Accuracy:</a:t>
            </a:r>
            <a:r>
              <a:rPr lang="en-US" sz="13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 A model that flags nothing achieves 99.83% accuracy — catching zero fraud.  </a:t>
            </a:r>
            <a:r>
              <a:rPr lang="en-US" sz="135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Accuracy is not a metric here.</a:t>
            </a:r>
            <a:endParaRPr lang="en-US" sz="1350" dirty="0"/>
          </a:p>
          <a:p>
            <a:pPr marL="0" indent="0">
              <a:lnSpc>
                <a:spcPct val="135000"/>
              </a:lnSpc>
              <a:buNone/>
            </a:pPr>
            <a:r>
              <a:rPr lang="en-US" sz="135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ROC AUC:</a:t>
            </a:r>
            <a:r>
              <a:rPr lang="en-US" sz="13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 Reaches 0.955 even with our unsupervised model — inflated by the 284,315-strong majority class.</a:t>
            </a:r>
            <a:endParaRPr lang="en-US" sz="1350" dirty="0"/>
          </a:p>
          <a:p>
            <a:pPr marL="0" indent="0">
              <a:lnSpc>
                <a:spcPct val="135000"/>
              </a:lnSpc>
              <a:buNone/>
            </a:pPr>
            <a:r>
              <a:rPr lang="en-US" sz="135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Right metrics:</a:t>
            </a:r>
            <a:r>
              <a:rPr lang="en-US" sz="13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 Precision, Recall, F1, PR AUC, and MCC — all calibrated to the minority (fraud) class.</a:t>
            </a:r>
            <a:endParaRPr lang="en-US" sz="13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EDF0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566928"/>
            <a:ext cx="82296" cy="4576572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201168" y="0"/>
            <a:ext cx="8778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End-to-End Approach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1168" y="777240"/>
            <a:ext cx="2103120" cy="4069080"/>
          </a:xfrm>
          <a:prstGeom prst="rect">
            <a:avLst/>
          </a:prstGeom>
          <a:solidFill>
            <a:srgbClr val="FFFFFF"/>
          </a:solidFill>
          <a:ln w="9525">
            <a:solidFill>
              <a:srgbClr val="C5CFE8"/>
            </a:solidFill>
            <a:prstDash val="solid"/>
          </a:ln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201168" y="777240"/>
            <a:ext cx="2103120" cy="50292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201168" y="777240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00–03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201168" y="1325880"/>
            <a:ext cx="2103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&amp; Experiments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292608" y="1874520"/>
            <a:ext cx="1920240" cy="2560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55000"/>
              </a:lnSpc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Load creditcard.csv</a:t>
            </a:r>
            <a:endParaRPr lang="en-US" sz="1200" dirty="0"/>
          </a:p>
          <a:p>
            <a:pPr marL="0" indent="0">
              <a:lnSpc>
                <a:spcPct val="155000"/>
              </a:lnSpc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 imbalance analysis</a:t>
            </a:r>
            <a:endParaRPr lang="en-US" sz="1200" dirty="0"/>
          </a:p>
          <a:p>
            <a:pPr marL="0" indent="0">
              <a:lnSpc>
                <a:spcPct val="155000"/>
              </a:lnSpc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Point / time-series /</a:t>
            </a:r>
            <a:endParaRPr lang="en-US" sz="1200" dirty="0"/>
          </a:p>
          <a:p>
            <a:pPr marL="0" indent="0">
              <a:lnSpc>
                <a:spcPct val="155000"/>
              </a:lnSpc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cluster anomaly probes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2304288" y="2834640"/>
            <a:ext cx="128016" cy="0"/>
          </a:xfrm>
          <a:prstGeom prst="line">
            <a:avLst/>
          </a:prstGeom>
          <a:noFill/>
          <a:ln w="19050">
            <a:solidFill>
              <a:srgbClr val="64748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2432304" y="777240"/>
            <a:ext cx="2103120" cy="4069080"/>
          </a:xfrm>
          <a:prstGeom prst="rect">
            <a:avLst/>
          </a:prstGeom>
          <a:solidFill>
            <a:srgbClr val="FFFFFF"/>
          </a:solidFill>
          <a:ln w="9525">
            <a:solidFill>
              <a:srgbClr val="C5CFE8"/>
            </a:solidFill>
            <a:prstDash val="solid"/>
          </a:ln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2432304" y="777240"/>
            <a:ext cx="2103120" cy="502920"/>
          </a:xfrm>
          <a:prstGeom prst="rect">
            <a:avLst/>
          </a:prstGeom>
          <a:solidFill>
            <a:srgbClr val="2A3D8F"/>
          </a:solidFill>
          <a:ln w="12700">
            <a:solidFill>
              <a:srgbClr val="2A3D8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2432304" y="777240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2432304" y="1325880"/>
            <a:ext cx="2103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2A3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Fraud Detection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2523744" y="1874520"/>
            <a:ext cx="1920240" cy="2560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55000"/>
              </a:lnSpc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Isolation Forest</a:t>
            </a:r>
            <a:endParaRPr lang="en-US" sz="1200" dirty="0"/>
          </a:p>
          <a:p>
            <a:pPr marL="0" indent="0">
              <a:lnSpc>
                <a:spcPct val="155000"/>
              </a:lnSpc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Contamination fix</a:t>
            </a:r>
            <a:endParaRPr lang="en-US" sz="1200" dirty="0"/>
          </a:p>
          <a:p>
            <a:pPr marL="0" indent="0">
              <a:lnSpc>
                <a:spcPct val="155000"/>
              </a:lnSpc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Threshold calibration</a:t>
            </a:r>
            <a:endParaRPr lang="en-US" sz="1200" dirty="0"/>
          </a:p>
          <a:p>
            <a:pPr marL="0" indent="0">
              <a:lnSpc>
                <a:spcPct val="155000"/>
              </a:lnSpc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SMOTE + RF comparison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535424" y="2834640"/>
            <a:ext cx="128016" cy="0"/>
          </a:xfrm>
          <a:prstGeom prst="line">
            <a:avLst/>
          </a:prstGeom>
          <a:noFill/>
          <a:ln w="19050">
            <a:solidFill>
              <a:srgbClr val="64748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4663440" y="777240"/>
            <a:ext cx="2103120" cy="4069080"/>
          </a:xfrm>
          <a:prstGeom prst="rect">
            <a:avLst/>
          </a:prstGeom>
          <a:solidFill>
            <a:srgbClr val="FFFFFF"/>
          </a:solidFill>
          <a:ln w="9525">
            <a:solidFill>
              <a:srgbClr val="C5CFE8"/>
            </a:solidFill>
            <a:prstDash val="solid"/>
          </a:ln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8" name="Shape 16"/>
          <p:cNvSpPr/>
          <p:nvPr/>
        </p:nvSpPr>
        <p:spPr>
          <a:xfrm>
            <a:off x="4663440" y="777240"/>
            <a:ext cx="2103120" cy="502920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4663440" y="777240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4663440" y="1325880"/>
            <a:ext cx="2103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 Discrimination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754880" y="1874520"/>
            <a:ext cx="1920240" cy="2560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55000"/>
              </a:lnSpc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SCM suitability score</a:t>
            </a:r>
            <a:endParaRPr lang="en-US" sz="1200" dirty="0"/>
          </a:p>
          <a:p>
            <a:pPr marL="0" indent="0">
              <a:lnSpc>
                <a:spcPct val="155000"/>
              </a:lnSpc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|AUROC − 0.5| × |sep|</a:t>
            </a:r>
            <a:endParaRPr lang="en-US" sz="1200" dirty="0"/>
          </a:p>
          <a:p>
            <a:pPr marL="0" indent="0">
              <a:lnSpc>
                <a:spcPct val="155000"/>
              </a:lnSpc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Objective PCA ranking</a:t>
            </a:r>
            <a:endParaRPr lang="en-US" sz="1200" dirty="0"/>
          </a:p>
          <a:p>
            <a:pPr marL="0" indent="0">
              <a:lnSpc>
                <a:spcPct val="155000"/>
              </a:lnSpc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Donor feature: V14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6766560" y="2834640"/>
            <a:ext cx="128016" cy="0"/>
          </a:xfrm>
          <a:prstGeom prst="line">
            <a:avLst/>
          </a:prstGeom>
          <a:noFill/>
          <a:ln w="19050">
            <a:solidFill>
              <a:srgbClr val="64748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Shape 21"/>
          <p:cNvSpPr/>
          <p:nvPr/>
        </p:nvSpPr>
        <p:spPr>
          <a:xfrm>
            <a:off x="6894576" y="777240"/>
            <a:ext cx="2103120" cy="4069080"/>
          </a:xfrm>
          <a:prstGeom prst="rect">
            <a:avLst/>
          </a:prstGeom>
          <a:solidFill>
            <a:srgbClr val="FFFFFF"/>
          </a:solidFill>
          <a:ln w="9525">
            <a:solidFill>
              <a:srgbClr val="C5CFE8"/>
            </a:solidFill>
            <a:prstDash val="solid"/>
          </a:ln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4" name="Shape 22"/>
          <p:cNvSpPr/>
          <p:nvPr/>
        </p:nvSpPr>
        <p:spPr>
          <a:xfrm>
            <a:off x="6894576" y="777240"/>
            <a:ext cx="2103120" cy="502920"/>
          </a:xfrm>
          <a:prstGeom prst="rect">
            <a:avLst/>
          </a:prstGeom>
          <a:solidFill>
            <a:srgbClr val="5D3A8E"/>
          </a:solidFill>
          <a:ln w="12700">
            <a:solidFill>
              <a:srgbClr val="5D3A8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6894576" y="777240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2000" dirty="0"/>
          </a:p>
        </p:txBody>
      </p:sp>
      <p:sp>
        <p:nvSpPr>
          <p:cNvPr id="26" name="Text 24"/>
          <p:cNvSpPr/>
          <p:nvPr/>
        </p:nvSpPr>
        <p:spPr>
          <a:xfrm>
            <a:off x="6894576" y="1325880"/>
            <a:ext cx="2103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5D3A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Temporal Validation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86016" y="1874520"/>
            <a:ext cx="1920240" cy="2560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55000"/>
              </a:lnSpc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Walk-forward CV</a:t>
            </a:r>
            <a:endParaRPr lang="en-US" sz="1200" dirty="0"/>
          </a:p>
          <a:p>
            <a:pPr marL="0" indent="0">
              <a:lnSpc>
                <a:spcPct val="155000"/>
              </a:lnSpc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folds / 8-hour blocks</a:t>
            </a:r>
            <a:endParaRPr lang="en-US" sz="1200" dirty="0"/>
          </a:p>
          <a:p>
            <a:pPr marL="0" indent="0">
              <a:lnSpc>
                <a:spcPct val="155000"/>
              </a:lnSpc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IsoForest vs RF balanced</a:t>
            </a:r>
            <a:endParaRPr lang="en-US" sz="1200" dirty="0"/>
          </a:p>
          <a:p>
            <a:pPr marL="0" indent="0">
              <a:lnSpc>
                <a:spcPct val="155000"/>
              </a:lnSpc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PSI multi-feature drift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201168" y="4846320"/>
            <a:ext cx="86868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results produced by 7 Python scripts (00–06) operating on 284,807 real credit card transactions.</a:t>
            </a:r>
            <a:endParaRPr lang="en-US" sz="10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DF0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566928"/>
            <a:ext cx="82296" cy="4576572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201168" y="0"/>
            <a:ext cx="8778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Anomaly Detection: Three Controlled Experiments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1168" y="749808"/>
            <a:ext cx="2834640" cy="4114800"/>
          </a:xfrm>
          <a:prstGeom prst="rect">
            <a:avLst/>
          </a:prstGeom>
          <a:solidFill>
            <a:srgbClr val="FFFFFF"/>
          </a:solidFill>
          <a:ln w="9525">
            <a:solidFill>
              <a:srgbClr val="C5CFE8"/>
            </a:solidFill>
            <a:prstDash val="solid"/>
          </a:ln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201168" y="749808"/>
            <a:ext cx="2834640" cy="36576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201168" y="749808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Experiment 1: Point Anomaly</a:t>
            </a:r>
            <a:endParaRPr lang="en-US" sz="1150" dirty="0"/>
          </a:p>
        </p:txBody>
      </p:sp>
      <p:pic>
        <p:nvPicPr>
          <p:cNvPr id="8" name="Image 0" descr="/sessions/stoic-brave-volta/mnt/Fraud_Detection/python/outputs/exp1_point_anomalies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292608" y="1170432"/>
            <a:ext cx="2651760" cy="2148840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429768" y="3383280"/>
            <a:ext cx="2377440" cy="256032"/>
          </a:xfrm>
          <a:prstGeom prst="rect">
            <a:avLst/>
          </a:prstGeom>
          <a:solidFill>
            <a:srgbClr val="EDF0FB"/>
          </a:solidFill>
          <a:ln w="6350">
            <a:solidFill>
              <a:srgbClr val="C5CFE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7"/>
          <p:cNvSpPr/>
          <p:nvPr/>
        </p:nvSpPr>
        <p:spPr>
          <a:xfrm>
            <a:off x="429768" y="3383280"/>
            <a:ext cx="23774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99th-pct threshold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310896" y="3703320"/>
            <a:ext cx="2615184" cy="10789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 outlier lifted 40 units above a Gaussian cluster. IsoForest correctly isolates the lone deviant.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3182112" y="749808"/>
            <a:ext cx="2834640" cy="4114800"/>
          </a:xfrm>
          <a:prstGeom prst="rect">
            <a:avLst/>
          </a:prstGeom>
          <a:solidFill>
            <a:srgbClr val="FFFFFF"/>
          </a:solidFill>
          <a:ln w="9525">
            <a:solidFill>
              <a:srgbClr val="C5CFE8"/>
            </a:solidFill>
            <a:prstDash val="solid"/>
          </a:ln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3" name="Shape 10"/>
          <p:cNvSpPr/>
          <p:nvPr/>
        </p:nvSpPr>
        <p:spPr>
          <a:xfrm>
            <a:off x="3182112" y="749808"/>
            <a:ext cx="2834640" cy="365760"/>
          </a:xfrm>
          <a:prstGeom prst="rect">
            <a:avLst/>
          </a:prstGeom>
          <a:solidFill>
            <a:srgbClr val="2A3D8F"/>
          </a:solidFill>
          <a:ln w="12700">
            <a:solidFill>
              <a:srgbClr val="2A3D8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1"/>
          <p:cNvSpPr/>
          <p:nvPr/>
        </p:nvSpPr>
        <p:spPr>
          <a:xfrm>
            <a:off x="3182112" y="749808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Experiment 2: Time-Series Spikes</a:t>
            </a:r>
            <a:endParaRPr lang="en-US" sz="1150" dirty="0"/>
          </a:p>
        </p:txBody>
      </p:sp>
      <p:pic>
        <p:nvPicPr>
          <p:cNvPr id="15" name="Image 1" descr="/sessions/stoic-brave-volta/mnt/Fraud_Detection/python/outputs/exp2_iforest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3273552" y="1170432"/>
            <a:ext cx="2651760" cy="2148840"/>
          </a:xfrm>
          <a:prstGeom prst="rect">
            <a:avLst/>
          </a:prstGeom>
        </p:spPr>
      </p:pic>
      <p:sp>
        <p:nvSpPr>
          <p:cNvPr id="16" name="Shape 12"/>
          <p:cNvSpPr/>
          <p:nvPr/>
        </p:nvSpPr>
        <p:spPr>
          <a:xfrm>
            <a:off x="3410712" y="3383280"/>
            <a:ext cx="2377440" cy="256032"/>
          </a:xfrm>
          <a:prstGeom prst="rect">
            <a:avLst/>
          </a:prstGeom>
          <a:solidFill>
            <a:srgbClr val="EDF0FB"/>
          </a:solidFill>
          <a:ln w="6350">
            <a:solidFill>
              <a:srgbClr val="C5CFE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3"/>
          <p:cNvSpPr/>
          <p:nvPr/>
        </p:nvSpPr>
        <p:spPr>
          <a:xfrm>
            <a:off x="3410712" y="3383280"/>
            <a:ext cx="23774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70th-pct + STL/IQR</a:t>
            </a:r>
            <a:endParaRPr lang="en-US" sz="1000" dirty="0"/>
          </a:p>
        </p:txBody>
      </p:sp>
      <p:sp>
        <p:nvSpPr>
          <p:cNvPr id="18" name="Text 14"/>
          <p:cNvSpPr/>
          <p:nvPr/>
        </p:nvSpPr>
        <p:spPr>
          <a:xfrm>
            <a:off x="3291840" y="3703320"/>
            <a:ext cx="2615184" cy="10789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Linear trend with 2 injected spikes. IsoForest (IQR=70%) + STL decomposition flags both reliably.</a:t>
            </a:r>
            <a:endParaRPr lang="en-US" sz="1150" dirty="0"/>
          </a:p>
        </p:txBody>
      </p:sp>
      <p:sp>
        <p:nvSpPr>
          <p:cNvPr id="19" name="Shape 15"/>
          <p:cNvSpPr/>
          <p:nvPr/>
        </p:nvSpPr>
        <p:spPr>
          <a:xfrm>
            <a:off x="6163056" y="749808"/>
            <a:ext cx="2834640" cy="4114800"/>
          </a:xfrm>
          <a:prstGeom prst="rect">
            <a:avLst/>
          </a:prstGeom>
          <a:solidFill>
            <a:srgbClr val="FFFFFF"/>
          </a:solidFill>
          <a:ln w="9525">
            <a:solidFill>
              <a:srgbClr val="C5CFE8"/>
            </a:solidFill>
            <a:prstDash val="solid"/>
          </a:ln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0" name="Shape 16"/>
          <p:cNvSpPr/>
          <p:nvPr/>
        </p:nvSpPr>
        <p:spPr>
          <a:xfrm>
            <a:off x="6163056" y="749808"/>
            <a:ext cx="2834640" cy="365760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7"/>
          <p:cNvSpPr/>
          <p:nvPr/>
        </p:nvSpPr>
        <p:spPr>
          <a:xfrm>
            <a:off x="6163056" y="749808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Experiment 3: Satellite Cluster</a:t>
            </a:r>
            <a:endParaRPr lang="en-US" sz="1150" dirty="0"/>
          </a:p>
        </p:txBody>
      </p:sp>
      <p:pic>
        <p:nvPicPr>
          <p:cNvPr id="22" name="Image 2" descr="/sessions/stoic-brave-volta/mnt/Fraud_Detection/python/outputs/exp3_cluster_anomalies.png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6254496" y="1170432"/>
            <a:ext cx="2651760" cy="2148840"/>
          </a:xfrm>
          <a:prstGeom prst="rect">
            <a:avLst/>
          </a:prstGeom>
        </p:spPr>
      </p:pic>
      <p:sp>
        <p:nvSpPr>
          <p:cNvPr id="23" name="Shape 18"/>
          <p:cNvSpPr/>
          <p:nvPr/>
        </p:nvSpPr>
        <p:spPr>
          <a:xfrm>
            <a:off x="6391656" y="3383280"/>
            <a:ext cx="2377440" cy="256032"/>
          </a:xfrm>
          <a:prstGeom prst="rect">
            <a:avLst/>
          </a:prstGeom>
          <a:solidFill>
            <a:srgbClr val="EDF0FB"/>
          </a:solidFill>
          <a:ln w="6350">
            <a:solidFill>
              <a:srgbClr val="C5CFE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Text 19"/>
          <p:cNvSpPr/>
          <p:nvPr/>
        </p:nvSpPr>
        <p:spPr>
          <a:xfrm>
            <a:off x="6391656" y="3383280"/>
            <a:ext cx="23774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80th-pct threshold</a:t>
            </a:r>
            <a:endParaRPr lang="en-US" sz="1000" dirty="0"/>
          </a:p>
        </p:txBody>
      </p:sp>
      <p:sp>
        <p:nvSpPr>
          <p:cNvPr id="25" name="Text 20"/>
          <p:cNvSpPr/>
          <p:nvPr/>
        </p:nvSpPr>
        <p:spPr>
          <a:xfrm>
            <a:off x="6272784" y="3703320"/>
            <a:ext cx="2615184" cy="10789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 cluster at (50,50) + satellite cluster at (80,80). Model flags the remote group as collective anomalies.</a:t>
            </a:r>
            <a:endParaRPr lang="en-US" sz="11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DF0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566928"/>
            <a:ext cx="82296" cy="4576572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201168" y="0"/>
            <a:ext cx="8778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Isolation Forest — and Why contamination='auto' Fails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1168" y="749808"/>
            <a:ext cx="4023360" cy="4114800"/>
          </a:xfrm>
          <a:prstGeom prst="rect">
            <a:avLst/>
          </a:prstGeom>
          <a:solidFill>
            <a:srgbClr val="FFFFFF"/>
          </a:solidFill>
          <a:ln w="9525">
            <a:solidFill>
              <a:srgbClr val="C5CFE8"/>
            </a:solidFill>
            <a:prstDash val="solid"/>
          </a:ln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201168" y="749808"/>
            <a:ext cx="64008" cy="411480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384048" y="841248"/>
            <a:ext cx="36576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Isolation Forest Works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384048" y="1261872"/>
            <a:ext cx="3749040" cy="2377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ct val="150000"/>
              </a:lnSpc>
              <a:buSzPct val="100000"/>
              <a:buChar char="•"/>
            </a:pPr>
            <a:r>
              <a:rPr lang="en-US" sz="12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Randomly select a feature and a random split value</a:t>
            </a:r>
            <a:endParaRPr lang="en-US" sz="1250" dirty="0"/>
          </a:p>
          <a:p>
            <a:pPr marL="342900" indent="-342900">
              <a:lnSpc>
                <a:spcPct val="150000"/>
              </a:lnSpc>
              <a:buSzPct val="100000"/>
              <a:buChar char="•"/>
            </a:pPr>
            <a:r>
              <a:rPr lang="en-US" sz="12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Repeat until each point is isolated in its own partition</a:t>
            </a:r>
            <a:endParaRPr lang="en-US" sz="1250" dirty="0"/>
          </a:p>
          <a:p>
            <a:pPr marL="342900" indent="-342900">
              <a:lnSpc>
                <a:spcPct val="150000"/>
              </a:lnSpc>
              <a:buSzPct val="100000"/>
              <a:buChar char="•"/>
            </a:pPr>
            <a:r>
              <a:rPr lang="en-US" sz="12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Anomalies require fewer splits → shorter average path length</a:t>
            </a:r>
            <a:endParaRPr lang="en-US" sz="1250" dirty="0"/>
          </a:p>
          <a:p>
            <a:pPr marL="342900" indent="-342900">
              <a:lnSpc>
                <a:spcPct val="150000"/>
              </a:lnSpc>
              <a:buSzPct val="100000"/>
              <a:buChar char="•"/>
            </a:pPr>
            <a:r>
              <a:rPr lang="en-US" sz="12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Unsupervised — no labels needed during training</a:t>
            </a:r>
            <a:endParaRPr lang="en-US" sz="1250" dirty="0"/>
          </a:p>
          <a:p>
            <a:pPr marL="342900" indent="-342900">
              <a:lnSpc>
                <a:spcPct val="150000"/>
              </a:lnSpc>
              <a:buSzPct val="100000"/>
              <a:buChar char="•"/>
            </a:pPr>
            <a:r>
              <a:rPr lang="en-US" sz="12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 on large datasets with subsampling per tree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384048" y="3730752"/>
            <a:ext cx="3749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config: 100 trees · max_samples='auto' · n_jobs=-1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407408" y="749808"/>
            <a:ext cx="4526280" cy="4114800"/>
          </a:xfrm>
          <a:prstGeom prst="rect">
            <a:avLst/>
          </a:prstGeom>
          <a:solidFill>
            <a:srgbClr val="FFFFFF"/>
          </a:solidFill>
          <a:ln w="9525">
            <a:solidFill>
              <a:srgbClr val="C5CFE8"/>
            </a:solidFill>
            <a:prstDash val="solid"/>
          </a:ln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4407408" y="749808"/>
            <a:ext cx="64008" cy="4114800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4590288" y="841248"/>
            <a:ext cx="42062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contamination Fix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590288" y="1261872"/>
            <a:ext cx="4160520" cy="1188720"/>
          </a:xfrm>
          <a:prstGeom prst="rect">
            <a:avLst/>
          </a:prstGeom>
          <a:solidFill>
            <a:srgbClr val="FDF2F2"/>
          </a:solidFill>
          <a:ln w="9525">
            <a:solidFill>
              <a:srgbClr val="E8B4B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4681728" y="1316736"/>
            <a:ext cx="3977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Problem: contamination='auto'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681728" y="1627632"/>
            <a:ext cx="39776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sklearn maps 'auto' → 0.10 (10%)</a:t>
            </a:r>
            <a:endParaRPr lang="en-US" sz="12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Expects ~28,480 anomalies</a:t>
            </a:r>
            <a:endParaRPr lang="en-US" sz="12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Actual fraud: 492 (0.17%)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590288" y="2578608"/>
            <a:ext cx="4160520" cy="1188720"/>
          </a:xfrm>
          <a:prstGeom prst="rect">
            <a:avLst/>
          </a:prstGeom>
          <a:solidFill>
            <a:srgbClr val="EEF8F2"/>
          </a:solidFill>
          <a:ln w="9525">
            <a:solidFill>
              <a:srgbClr val="A8D5B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4681728" y="2633472"/>
            <a:ext cx="3977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84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Fix: contamination = fraud_rate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4681728" y="2944368"/>
            <a:ext cx="39776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contamination = 0.001727</a:t>
            </a:r>
            <a:endParaRPr lang="en-US" sz="12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Calibrates model to true anomaly fraction</a:t>
            </a:r>
            <a:endParaRPr lang="en-US" sz="12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now expects exactly 492 anomalies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4590288" y="3886200"/>
            <a:ext cx="42062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Code: IsolationForest(n_estimators=100, contamination=fraud_rate, random_state=1234)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EDF0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566928"/>
            <a:ext cx="82296" cy="4576572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201168" y="0"/>
            <a:ext cx="8778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Performance: ROC Flatters, PR Tells the Truth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1168" y="749808"/>
            <a:ext cx="4160520" cy="3200400"/>
          </a:xfrm>
          <a:prstGeom prst="rect">
            <a:avLst/>
          </a:prstGeom>
          <a:solidFill>
            <a:srgbClr val="FFFFFF"/>
          </a:solidFill>
          <a:ln w="9525">
            <a:solidFill>
              <a:srgbClr val="C5CFE8"/>
            </a:solidFill>
            <a:prstDash val="solid"/>
          </a:ln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320040" y="841248"/>
            <a:ext cx="39319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ROC Curve  —  AUC: 0.955</a:t>
            </a:r>
            <a:endParaRPr lang="en-US" sz="1400" dirty="0"/>
          </a:p>
        </p:txBody>
      </p:sp>
      <p:pic>
        <p:nvPicPr>
          <p:cNvPr id="7" name="Image 0" descr="/sessions/stoic-brave-volta/mnt/Fraud_Detection/python/outputs/fraud_roc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320040" y="1234440"/>
            <a:ext cx="3886200" cy="2633472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4572000" y="749808"/>
            <a:ext cx="4160520" cy="3200400"/>
          </a:xfrm>
          <a:prstGeom prst="rect">
            <a:avLst/>
          </a:prstGeom>
          <a:solidFill>
            <a:srgbClr val="FFFFFF"/>
          </a:solidFill>
          <a:ln w="9525">
            <a:solidFill>
              <a:srgbClr val="C5CFE8"/>
            </a:solidFill>
            <a:prstDash val="solid"/>
          </a:ln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9" name="Text 6"/>
          <p:cNvSpPr/>
          <p:nvPr/>
        </p:nvSpPr>
        <p:spPr>
          <a:xfrm>
            <a:off x="4681728" y="841248"/>
            <a:ext cx="39319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 Curve  —  AUC: 0.189</a:t>
            </a:r>
            <a:endParaRPr lang="en-US" sz="1400" dirty="0"/>
          </a:p>
        </p:txBody>
      </p:sp>
      <p:pic>
        <p:nvPicPr>
          <p:cNvPr id="10" name="Image 1" descr="/sessions/stoic-brave-volta/mnt/Fraud_Detection/python/outputs/fraud_pr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4681728" y="1234440"/>
            <a:ext cx="3886200" cy="2633472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201168" y="4096512"/>
            <a:ext cx="416052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C5CFE8"/>
            </a:solidFill>
            <a:prstDash val="solid"/>
          </a:ln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2" name="Text 8"/>
          <p:cNvSpPr/>
          <p:nvPr/>
        </p:nvSpPr>
        <p:spPr>
          <a:xfrm>
            <a:off x="320040" y="4151376"/>
            <a:ext cx="39319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ROC AUC is inflated because the 284K non-fraud majority dominates the FPR denominator. Even a weak model scores well.</a:t>
            </a:r>
            <a:endParaRPr lang="en-US" sz="1150" dirty="0"/>
          </a:p>
        </p:txBody>
      </p:sp>
      <p:sp>
        <p:nvSpPr>
          <p:cNvPr id="13" name="Shape 9"/>
          <p:cNvSpPr/>
          <p:nvPr/>
        </p:nvSpPr>
        <p:spPr>
          <a:xfrm>
            <a:off x="4572000" y="4096512"/>
            <a:ext cx="416052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C5CFE8"/>
            </a:solidFill>
            <a:prstDash val="solid"/>
          </a:ln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4" name="Text 10"/>
          <p:cNvSpPr/>
          <p:nvPr/>
        </p:nvSpPr>
        <p:spPr>
          <a:xfrm>
            <a:off x="4681728" y="4151376"/>
            <a:ext cx="39319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 AUC of 0.189 vs the no-skill baseline of 0.0017 shows the model is meaningful — but unsupervised has limits.</a:t>
            </a:r>
            <a:endParaRPr lang="en-US" sz="11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EDF0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566928"/>
            <a:ext cx="82296" cy="4576572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201168" y="0"/>
            <a:ext cx="8778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Choosing the Right Operating Point: Three Thresholds</a:t>
            </a:r>
            <a:endParaRPr lang="en-US" sz="2000" dirty="0"/>
          </a:p>
        </p:txBody>
      </p:sp>
      <p:pic>
        <p:nvPicPr>
          <p:cNvPr id="5" name="Image 0" descr="/sessions/stoic-brave-volta/mnt/Fraud_Detection/python/outputs/fraud_threshold_compare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201168" y="749808"/>
            <a:ext cx="5230368" cy="3108960"/>
          </a:xfrm>
          <a:prstGeom prst="rect">
            <a:avLst/>
          </a:prstGeom>
        </p:spPr>
      </p:pic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532120" y="749808"/>
          <a:ext cx="3410712" cy="1828800"/>
        </p:xfrm>
        <a:graphic>
          <a:graphicData uri="http://schemas.openxmlformats.org/drawingml/2006/table">
            <a:tbl>
              <a:tblPr/>
              <a:tblGrid>
                <a:gridCol w="9601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3035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6692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400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1323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Threshold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5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5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5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5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Flags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5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5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5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5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Prec.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5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5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5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5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Recall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5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5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5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5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5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5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5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5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99th-pct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5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5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5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5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2,849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5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5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5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5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5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5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5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5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0.632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5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5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5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5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0.186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5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5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5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5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Fraud-rate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5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5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5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5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E84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492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5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5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5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5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5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5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5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5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5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5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5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5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5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5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5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5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F1-optimal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5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5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5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5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1E84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5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5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5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5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5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5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5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5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0.331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5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5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5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5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1E84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5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5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5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5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7" name="Shape 3"/>
          <p:cNvSpPr/>
          <p:nvPr/>
        </p:nvSpPr>
        <p:spPr>
          <a:xfrm>
            <a:off x="5532120" y="3154680"/>
            <a:ext cx="3410712" cy="804672"/>
          </a:xfrm>
          <a:prstGeom prst="rect">
            <a:avLst/>
          </a:prstGeom>
          <a:solidFill>
            <a:srgbClr val="FFFFFF"/>
          </a:solidFill>
          <a:ln w="9525">
            <a:solidFill>
              <a:srgbClr val="C5CFE8"/>
            </a:solidFill>
            <a:prstDash val="solid"/>
          </a:ln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5650992" y="3218688"/>
            <a:ext cx="32004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1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99th-pct: </a:t>
            </a: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in 10 flags are false alarms (Precision = 0.109)</a:t>
            </a:r>
            <a:endParaRPr lang="en-US" sz="1100" dirty="0"/>
          </a:p>
        </p:txBody>
      </p:sp>
      <p:sp>
        <p:nvSpPr>
          <p:cNvPr id="9" name="Shape 5"/>
          <p:cNvSpPr/>
          <p:nvPr/>
        </p:nvSpPr>
        <p:spPr>
          <a:xfrm>
            <a:off x="5532120" y="4023360"/>
            <a:ext cx="3410712" cy="804672"/>
          </a:xfrm>
          <a:prstGeom prst="rect">
            <a:avLst/>
          </a:prstGeom>
          <a:solidFill>
            <a:srgbClr val="FFFFFF"/>
          </a:solidFill>
          <a:ln w="9525">
            <a:solidFill>
              <a:srgbClr val="C5CFE8"/>
            </a:solidFill>
            <a:prstDash val="solid"/>
          </a:ln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0" name="Text 6"/>
          <p:cNvSpPr/>
          <p:nvPr/>
        </p:nvSpPr>
        <p:spPr>
          <a:xfrm>
            <a:off x="5650992" y="4096512"/>
            <a:ext cx="32004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1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F1-optimal: </a:t>
            </a: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balance — 163 TP, 392 FP, F1 = 0.311</a:t>
            </a:r>
            <a:endParaRPr lang="en-US" sz="1100" dirty="0"/>
          </a:p>
        </p:txBody>
      </p:sp>
      <p:sp>
        <p:nvSpPr>
          <p:cNvPr id="11" name="Text 7"/>
          <p:cNvSpPr/>
          <p:nvPr/>
        </p:nvSpPr>
        <p:spPr>
          <a:xfrm>
            <a:off x="201168" y="4023360"/>
            <a:ext cx="51663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15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Threshold selection is a business decision: high Recall = catch more fraud; high Precision = fewer wasted investigations.</a:t>
            </a:r>
            <a:endParaRPr lang="en-US" sz="11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EDF0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566928"/>
            <a:ext cx="82296" cy="4576572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201168" y="0"/>
            <a:ext cx="8778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Supervised vs Unsupervised: The Value of Labels</a:t>
            </a:r>
            <a:endParaRPr lang="en-US" sz="2000" dirty="0"/>
          </a:p>
        </p:txBody>
      </p:sp>
      <p:pic>
        <p:nvPicPr>
          <p:cNvPr id="5" name="Image 0" descr="/sessions/stoic-brave-volta/mnt/Fraud_Detection/python/outputs/fraud_anomaly_scatter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201168" y="749808"/>
            <a:ext cx="3977640" cy="324612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201168" y="4023360"/>
            <a:ext cx="3977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V12 vs V15: anomaly-flagged (red) vs clean (dark)</a:t>
            </a:r>
            <a:endParaRPr lang="en-US" sz="1050" dirty="0"/>
          </a:p>
        </p:txBody>
      </p:sp>
      <p:sp>
        <p:nvSpPr>
          <p:cNvPr id="7" name="Shape 4"/>
          <p:cNvSpPr/>
          <p:nvPr/>
        </p:nvSpPr>
        <p:spPr>
          <a:xfrm>
            <a:off x="4315968" y="749808"/>
            <a:ext cx="4617720" cy="4114800"/>
          </a:xfrm>
          <a:prstGeom prst="rect">
            <a:avLst/>
          </a:prstGeom>
          <a:solidFill>
            <a:srgbClr val="FFFFFF"/>
          </a:solidFill>
          <a:ln w="9525">
            <a:solidFill>
              <a:srgbClr val="C5CFE8"/>
            </a:solidFill>
            <a:prstDash val="solid"/>
          </a:ln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8" name="Shape 5"/>
          <p:cNvSpPr/>
          <p:nvPr/>
        </p:nvSpPr>
        <p:spPr>
          <a:xfrm>
            <a:off x="4315968" y="749808"/>
            <a:ext cx="64008" cy="411480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6"/>
          <p:cNvSpPr/>
          <p:nvPr/>
        </p:nvSpPr>
        <p:spPr>
          <a:xfrm>
            <a:off x="4498848" y="868680"/>
            <a:ext cx="431596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 Comparison  (5-fold stratified CV)</a:t>
            </a:r>
            <a:endParaRPr lang="en-US" sz="14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498848" y="1298448"/>
          <a:ext cx="4315970" cy="1664208"/>
        </p:xfrm>
        <a:graphic>
          <a:graphicData uri="http://schemas.openxmlformats.org/drawingml/2006/table">
            <a:tbl>
              <a:tblPr/>
              <a:tblGrid>
                <a:gridCol w="86319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6319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6319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6319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86319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Method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5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5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5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5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5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5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5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5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MCC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5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5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5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5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Recall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5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5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5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5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Type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5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5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5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5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Isolation Forest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5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5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5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5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E67E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5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5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5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5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5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5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5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5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0.331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5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5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5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5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i="1" dirty="0">
                          <a:solidFill>
                            <a:srgbClr val="64748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Unsupervised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5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5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5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5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RF balanced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5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5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5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5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E84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0.905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5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5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5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5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0.903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5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5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5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5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0.854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5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5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5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5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i="1" dirty="0">
                          <a:solidFill>
                            <a:srgbClr val="64748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Supervised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5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5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5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5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SMOTE + RF*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5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5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5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5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1E84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5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5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5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5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5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5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5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5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5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5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5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5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i="1" dirty="0">
                          <a:solidFill>
                            <a:srgbClr val="1E84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 run*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5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5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5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5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1" name="Text 7"/>
          <p:cNvSpPr/>
          <p:nvPr/>
        </p:nvSpPr>
        <p:spPr>
          <a:xfrm>
            <a:off x="4498848" y="3200400"/>
            <a:ext cx="4315968" cy="1508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40000"/>
              </a:lnSpc>
              <a:buNone/>
            </a:pPr>
            <a:r>
              <a:rPr lang="en-US" sz="125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Key insight: </a:t>
            </a:r>
            <a:r>
              <a:rPr lang="en-US" sz="12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class_weight='balanced' RF brings F1 from 0.311 (unsupervised) to 0.905 — a 3× gain when labels are available. *SMOTE variant requires imbalanced-learn (pip install imbalanced-learn). The cost is requiring labelled training data, which may not exist at deployment.</a:t>
            </a:r>
            <a:endParaRPr lang="en-US" sz="12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EDF0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566928"/>
            <a:ext cx="82296" cy="4576572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201168" y="0"/>
            <a:ext cx="8778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Script 05: Objective PCA Feature Ranking for Model Inputs</a:t>
            </a:r>
            <a:endParaRPr lang="en-US" sz="2000" dirty="0"/>
          </a:p>
        </p:txBody>
      </p:sp>
      <p:pic>
        <p:nvPicPr>
          <p:cNvPr id="5" name="Image 0" descr="/sessions/stoic-brave-volta/mnt/Fraud_Detection/python/outputs/feature_scm_suitability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201168" y="749808"/>
            <a:ext cx="5394960" cy="352044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742432" y="749808"/>
            <a:ext cx="3200400" cy="1572768"/>
          </a:xfrm>
          <a:prstGeom prst="rect">
            <a:avLst/>
          </a:prstGeom>
          <a:solidFill>
            <a:srgbClr val="FFFFFF"/>
          </a:solidFill>
          <a:ln w="9525">
            <a:solidFill>
              <a:srgbClr val="C5CFE8"/>
            </a:solidFill>
            <a:prstDash val="solid"/>
          </a:ln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Shape 4"/>
          <p:cNvSpPr/>
          <p:nvPr/>
        </p:nvSpPr>
        <p:spPr>
          <a:xfrm>
            <a:off x="5742432" y="749808"/>
            <a:ext cx="64008" cy="1572768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5"/>
          <p:cNvSpPr/>
          <p:nvPr/>
        </p:nvSpPr>
        <p:spPr>
          <a:xfrm>
            <a:off x="5925312" y="841248"/>
            <a:ext cx="28346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SCM Suitability Score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5925312" y="1216152"/>
            <a:ext cx="2880360" cy="10241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5000"/>
              </a:lnSpc>
              <a:buNone/>
            </a:pPr>
            <a:r>
              <a:rPr lang="en-US" sz="11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 = disc_power × |std_sep|</a:t>
            </a:r>
            <a:endParaRPr lang="en-US" sz="1150" dirty="0"/>
          </a:p>
          <a:p>
            <a:pPr marL="0" indent="0">
              <a:lnSpc>
                <a:spcPct val="135000"/>
              </a:lnSpc>
              <a:buNone/>
            </a:pPr>
            <a:r>
              <a:rPr lang="en-US" sz="11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disc_power = |AUROC − 0.5|</a:t>
            </a:r>
            <a:endParaRPr lang="en-US" sz="1150" dirty="0"/>
          </a:p>
          <a:p>
            <a:pPr marL="0" indent="0">
              <a:lnSpc>
                <a:spcPct val="135000"/>
              </a:lnSpc>
              <a:buNone/>
            </a:pPr>
            <a:r>
              <a:rPr lang="en-US" sz="11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std_sep = (fraud_mean − nf_mean) / nf_std</a:t>
            </a:r>
            <a:endParaRPr lang="en-US" sz="1150" dirty="0"/>
          </a:p>
          <a:p>
            <a:pPr marL="0" indent="0">
              <a:lnSpc>
                <a:spcPct val="135000"/>
              </a:lnSpc>
              <a:buNone/>
            </a:pPr>
            <a:r>
              <a:rPr lang="en-US" sz="11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Eligible: fraud &lt; non-fraud direction only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5742432" y="2423160"/>
            <a:ext cx="3200400" cy="1234440"/>
          </a:xfrm>
          <a:prstGeom prst="rect">
            <a:avLst/>
          </a:prstGeom>
          <a:solidFill>
            <a:srgbClr val="FFFFFF"/>
          </a:solidFill>
          <a:ln w="9525">
            <a:solidFill>
              <a:srgbClr val="C5CFE8"/>
            </a:solidFill>
            <a:prstDash val="solid"/>
          </a:ln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1" name="Shape 8"/>
          <p:cNvSpPr/>
          <p:nvPr/>
        </p:nvSpPr>
        <p:spPr>
          <a:xfrm>
            <a:off x="5742432" y="2423160"/>
            <a:ext cx="64008" cy="1234440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9"/>
          <p:cNvSpPr/>
          <p:nvPr/>
        </p:nvSpPr>
        <p:spPr>
          <a:xfrm>
            <a:off x="5925312" y="2514600"/>
            <a:ext cx="283464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Winner: V14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5925312" y="2834640"/>
            <a:ext cx="28346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scm_score = 3.497</a:t>
            </a:r>
            <a:endParaRPr lang="en-US" sz="1200" dirty="0"/>
          </a:p>
          <a:p>
            <a:pPr marL="0" indent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disc_power = 0.449   |sep| = 7.79σ</a:t>
            </a:r>
            <a:endParaRPr lang="en-US" sz="1200" dirty="0"/>
          </a:p>
          <a:p>
            <a:pPr marL="0" indent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V12 rank #2 (score = 2.897)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5742432" y="3749040"/>
            <a:ext cx="3200400" cy="1143000"/>
          </a:xfrm>
          <a:prstGeom prst="rect">
            <a:avLst/>
          </a:prstGeom>
          <a:solidFill>
            <a:srgbClr val="FFFFFF"/>
          </a:solidFill>
          <a:ln w="9525">
            <a:solidFill>
              <a:srgbClr val="C5CFE8"/>
            </a:solidFill>
            <a:prstDash val="solid"/>
          </a:ln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5" name="Shape 12"/>
          <p:cNvSpPr/>
          <p:nvPr/>
        </p:nvSpPr>
        <p:spPr>
          <a:xfrm>
            <a:off x="5742432" y="3749040"/>
            <a:ext cx="64008" cy="1143000"/>
          </a:xfrm>
          <a:prstGeom prst="rect">
            <a:avLst/>
          </a:prstGeom>
          <a:solidFill>
            <a:srgbClr val="1E8449"/>
          </a:solidFill>
          <a:ln w="12700">
            <a:solidFill>
              <a:srgbClr val="1E844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3"/>
          <p:cNvSpPr/>
          <p:nvPr/>
        </p:nvSpPr>
        <p:spPr>
          <a:xfrm>
            <a:off x="5925312" y="3840480"/>
            <a:ext cx="283464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84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this matters</a:t>
            </a:r>
            <a:endParaRPr lang="en-US" sz="1300" dirty="0"/>
          </a:p>
        </p:txBody>
      </p:sp>
      <p:sp>
        <p:nvSpPr>
          <p:cNvPr id="17" name="Text 14"/>
          <p:cNvSpPr/>
          <p:nvPr/>
        </p:nvSpPr>
        <p:spPr>
          <a:xfrm>
            <a:off x="5925312" y="4169664"/>
            <a:ext cx="288036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feature is pre-selected. Script 05 determines the donor-stratification axis programmatically on every run.</a:t>
            </a:r>
            <a:endParaRPr lang="en-US" sz="1150" dirty="0"/>
          </a:p>
        </p:txBody>
      </p:sp>
      <p:sp>
        <p:nvSpPr>
          <p:cNvPr id="18" name="Text 15"/>
          <p:cNvSpPr/>
          <p:nvPr/>
        </p:nvSpPr>
        <p:spPr>
          <a:xfrm>
            <a:off x="201168" y="4361688"/>
            <a:ext cx="5394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28 PCA components ranked — V14 leads on combined score; V12 leads on raw disc_power alone.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EDF0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566928"/>
            <a:ext cx="82296" cy="4576572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201168" y="0"/>
            <a:ext cx="8778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Script 06: Walk-Forward Temporal Validation</a:t>
            </a:r>
            <a:endParaRPr lang="en-US" sz="2000" dirty="0"/>
          </a:p>
        </p:txBody>
      </p:sp>
      <p:pic>
        <p:nvPicPr>
          <p:cNvPr id="5" name="Image 0" descr="/sessions/stoic-brave-volta/mnt/Fraud_Detection/python/outputs/temporal_metrics_by_fol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208663" y="749808"/>
            <a:ext cx="5394960" cy="2880360"/>
          </a:xfrm>
          <a:prstGeom prst="rect">
            <a:avLst/>
          </a:prstGeom>
        </p:spPr>
      </p:pic>
      <p:pic>
        <p:nvPicPr>
          <p:cNvPr id="6" name="Image 1" descr="/sessions/stoic-brave-volta/mnt/Fraud_Detection/python/outputs/temporal_vs_random_comparison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201168" y="3675888"/>
            <a:ext cx="5394960" cy="1298448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5742432" y="749808"/>
            <a:ext cx="3200400" cy="1572768"/>
          </a:xfrm>
          <a:prstGeom prst="rect">
            <a:avLst/>
          </a:prstGeom>
          <a:solidFill>
            <a:srgbClr val="FFFFFF"/>
          </a:solidFill>
          <a:ln w="9525">
            <a:solidFill>
              <a:srgbClr val="C5CFE8"/>
            </a:solidFill>
            <a:prstDash val="solid"/>
          </a:ln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8" name="Shape 4"/>
          <p:cNvSpPr/>
          <p:nvPr/>
        </p:nvSpPr>
        <p:spPr>
          <a:xfrm>
            <a:off x="5742432" y="749808"/>
            <a:ext cx="64008" cy="1572768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5"/>
          <p:cNvSpPr/>
          <p:nvPr/>
        </p:nvSpPr>
        <p:spPr>
          <a:xfrm>
            <a:off x="5925312" y="841248"/>
            <a:ext cx="283464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Fold Design</a:t>
            </a:r>
            <a:endParaRPr lang="en-US" sz="1300" dirty="0"/>
          </a:p>
        </p:txBody>
      </p:sp>
      <p:sp>
        <p:nvSpPr>
          <p:cNvPr id="10" name="Text 6"/>
          <p:cNvSpPr/>
          <p:nvPr/>
        </p:nvSpPr>
        <p:spPr>
          <a:xfrm>
            <a:off x="5925312" y="1170432"/>
            <a:ext cx="2880360" cy="10789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5000"/>
              </a:lnSpc>
              <a:buNone/>
            </a:pPr>
            <a:r>
              <a:rPr lang="en-US" sz="11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48 h split into 6 × 8-hour blocks</a:t>
            </a:r>
            <a:endParaRPr lang="en-US" sz="1150" dirty="0"/>
          </a:p>
          <a:p>
            <a:pPr marL="0" indent="0">
              <a:lnSpc>
                <a:spcPct val="135000"/>
              </a:lnSpc>
              <a:buNone/>
            </a:pPr>
            <a:r>
              <a:rPr lang="en-US" sz="11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expanding-window folds</a:t>
            </a:r>
            <a:endParaRPr lang="en-US" sz="1150" dirty="0"/>
          </a:p>
          <a:p>
            <a:pPr marL="0" indent="0">
              <a:lnSpc>
                <a:spcPct val="135000"/>
              </a:lnSpc>
              <a:buNone/>
            </a:pPr>
            <a:r>
              <a:rPr lang="en-US" sz="11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 → Val → Test per fold</a:t>
            </a:r>
            <a:endParaRPr lang="en-US" sz="1150" dirty="0"/>
          </a:p>
          <a:p>
            <a:pPr marL="0" indent="0">
              <a:lnSpc>
                <a:spcPct val="135000"/>
              </a:lnSpc>
              <a:buNone/>
            </a:pPr>
            <a:r>
              <a:rPr lang="en-US" sz="11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Threshold calibrated on val set</a:t>
            </a:r>
            <a:endParaRPr lang="en-US" sz="1150" dirty="0"/>
          </a:p>
        </p:txBody>
      </p:sp>
      <p:sp>
        <p:nvSpPr>
          <p:cNvPr id="11" name="Shape 7"/>
          <p:cNvSpPr/>
          <p:nvPr/>
        </p:nvSpPr>
        <p:spPr>
          <a:xfrm>
            <a:off x="5742432" y="2423160"/>
            <a:ext cx="3200400" cy="1234440"/>
          </a:xfrm>
          <a:prstGeom prst="rect">
            <a:avLst/>
          </a:prstGeom>
          <a:solidFill>
            <a:srgbClr val="FFFFFF"/>
          </a:solidFill>
          <a:ln w="9525">
            <a:solidFill>
              <a:srgbClr val="C5CFE8"/>
            </a:solidFill>
            <a:prstDash val="solid"/>
          </a:ln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2" name="Shape 8"/>
          <p:cNvSpPr/>
          <p:nvPr/>
        </p:nvSpPr>
        <p:spPr>
          <a:xfrm>
            <a:off x="5742432" y="2423160"/>
            <a:ext cx="64008" cy="1234440"/>
          </a:xfrm>
          <a:prstGeom prst="rect">
            <a:avLst/>
          </a:prstGeom>
          <a:solidFill>
            <a:srgbClr val="E67E22"/>
          </a:solidFill>
          <a:ln w="12700">
            <a:solidFill>
              <a:srgbClr val="E67E2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9"/>
          <p:cNvSpPr/>
          <p:nvPr/>
        </p:nvSpPr>
        <p:spPr>
          <a:xfrm>
            <a:off x="5925312" y="2514600"/>
            <a:ext cx="283464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E67E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IsoForest — Unstable</a:t>
            </a:r>
            <a:endParaRPr lang="en-US" sz="1300" dirty="0"/>
          </a:p>
        </p:txBody>
      </p:sp>
      <p:sp>
        <p:nvSpPr>
          <p:cNvPr id="14" name="Text 10"/>
          <p:cNvSpPr/>
          <p:nvPr/>
        </p:nvSpPr>
        <p:spPr>
          <a:xfrm>
            <a:off x="5925312" y="2834640"/>
            <a:ext cx="28346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 AUC range: 0.018 – 0.585</a:t>
            </a:r>
            <a:endParaRPr lang="en-US" sz="1200" dirty="0"/>
          </a:p>
          <a:p>
            <a:pPr marL="0" indent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 variance (std ≈ 0.23)</a:t>
            </a:r>
            <a:endParaRPr lang="en-US" sz="1200" dirty="0"/>
          </a:p>
          <a:p>
            <a:pPr marL="0" indent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Fraud rate shift breaks calibration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5742432" y="3749040"/>
            <a:ext cx="3200400" cy="1298448"/>
          </a:xfrm>
          <a:prstGeom prst="rect">
            <a:avLst/>
          </a:prstGeom>
          <a:solidFill>
            <a:srgbClr val="FFFFFF"/>
          </a:solidFill>
          <a:ln w="9525">
            <a:solidFill>
              <a:srgbClr val="C5CFE8"/>
            </a:solidFill>
            <a:prstDash val="solid"/>
          </a:ln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6" name="Shape 12"/>
          <p:cNvSpPr/>
          <p:nvPr/>
        </p:nvSpPr>
        <p:spPr>
          <a:xfrm>
            <a:off x="5742432" y="3749040"/>
            <a:ext cx="64008" cy="1298448"/>
          </a:xfrm>
          <a:prstGeom prst="rect">
            <a:avLst/>
          </a:prstGeom>
          <a:solidFill>
            <a:srgbClr val="1E8449"/>
          </a:solidFill>
          <a:ln w="12700">
            <a:solidFill>
              <a:srgbClr val="1E844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3"/>
          <p:cNvSpPr/>
          <p:nvPr/>
        </p:nvSpPr>
        <p:spPr>
          <a:xfrm>
            <a:off x="5925312" y="3840480"/>
            <a:ext cx="283464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84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RF Balanced — Robust</a:t>
            </a:r>
            <a:endParaRPr lang="en-US" sz="1300" dirty="0"/>
          </a:p>
        </p:txBody>
      </p:sp>
      <p:sp>
        <p:nvSpPr>
          <p:cNvPr id="18" name="Text 14"/>
          <p:cNvSpPr/>
          <p:nvPr/>
        </p:nvSpPr>
        <p:spPr>
          <a:xfrm>
            <a:off x="5925312" y="4169664"/>
            <a:ext cx="28803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 AUC range: 0.743 – 0.818</a:t>
            </a:r>
            <a:endParaRPr lang="en-US" sz="115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 variance (std ≈ 0.03)</a:t>
            </a:r>
            <a:endParaRPr lang="en-US" sz="115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class_weight='balanced' stabilises across temporal shifts</a:t>
            </a:r>
            <a:endParaRPr lang="en-US" sz="11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EDF0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566928"/>
            <a:ext cx="82296" cy="4576572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201168" y="0"/>
            <a:ext cx="8778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Population Stability Index: Multi-Feature Drift Monitoring</a:t>
            </a:r>
            <a:endParaRPr lang="en-US" sz="2000" dirty="0"/>
          </a:p>
        </p:txBody>
      </p:sp>
      <p:pic>
        <p:nvPicPr>
          <p:cNvPr id="5" name="Image 0" descr="/sessions/stoic-brave-volta/mnt/Fraud_Detection/python/outputs/temporal_psi_drift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201168" y="749808"/>
            <a:ext cx="6035040" cy="416052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6400800" y="749808"/>
            <a:ext cx="2532888" cy="1536192"/>
          </a:xfrm>
          <a:prstGeom prst="rect">
            <a:avLst/>
          </a:prstGeom>
          <a:solidFill>
            <a:srgbClr val="FFFFFF"/>
          </a:solidFill>
          <a:ln w="9525">
            <a:solidFill>
              <a:srgbClr val="C5CFE8"/>
            </a:solidFill>
            <a:prstDash val="solid"/>
          </a:ln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Shape 4"/>
          <p:cNvSpPr/>
          <p:nvPr/>
        </p:nvSpPr>
        <p:spPr>
          <a:xfrm>
            <a:off x="6400800" y="749808"/>
            <a:ext cx="64008" cy="1536192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5"/>
          <p:cNvSpPr/>
          <p:nvPr/>
        </p:nvSpPr>
        <p:spPr>
          <a:xfrm>
            <a:off x="6583680" y="841248"/>
            <a:ext cx="2240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Multi-Feature PSI?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6583680" y="1188720"/>
            <a:ext cx="2267712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single hardcoded feature misses drift in the rest of the feature space. PSI is computed across the top-5 most discriminating PCA components.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6400800" y="2377440"/>
            <a:ext cx="2532888" cy="1417320"/>
          </a:xfrm>
          <a:prstGeom prst="rect">
            <a:avLst/>
          </a:prstGeom>
          <a:solidFill>
            <a:srgbClr val="FFFFFF"/>
          </a:solidFill>
          <a:ln w="9525">
            <a:solidFill>
              <a:srgbClr val="C5CFE8"/>
            </a:solidFill>
            <a:prstDash val="solid"/>
          </a:ln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1" name="Shape 8"/>
          <p:cNvSpPr/>
          <p:nvPr/>
        </p:nvSpPr>
        <p:spPr>
          <a:xfrm>
            <a:off x="6400800" y="2377440"/>
            <a:ext cx="64008" cy="1417320"/>
          </a:xfrm>
          <a:prstGeom prst="rect">
            <a:avLst/>
          </a:prstGeom>
          <a:solidFill>
            <a:srgbClr val="E67E22"/>
          </a:solidFill>
          <a:ln w="12700">
            <a:solidFill>
              <a:srgbClr val="E67E2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9"/>
          <p:cNvSpPr/>
          <p:nvPr/>
        </p:nvSpPr>
        <p:spPr>
          <a:xfrm>
            <a:off x="6583680" y="2468880"/>
            <a:ext cx="224028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E67E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PSI Thresholds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6583680" y="2798064"/>
            <a:ext cx="2267712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40000"/>
              </a:lnSpc>
              <a:buNone/>
            </a:pPr>
            <a:r>
              <a:rPr lang="en-US" sz="11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&lt; 0.10  — stable, no action</a:t>
            </a:r>
            <a:endParaRPr lang="en-US" sz="1150" dirty="0"/>
          </a:p>
          <a:p>
            <a:pPr marL="0" indent="0">
              <a:lnSpc>
                <a:spcPct val="140000"/>
              </a:lnSpc>
              <a:buNone/>
            </a:pPr>
            <a:r>
              <a:rPr lang="en-US" sz="11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0.10 – 0.20  — monitor</a:t>
            </a:r>
            <a:endParaRPr lang="en-US" sz="1150" dirty="0"/>
          </a:p>
          <a:p>
            <a:pPr marL="0" indent="0">
              <a:lnSpc>
                <a:spcPct val="140000"/>
              </a:lnSpc>
              <a:buNone/>
            </a:pPr>
            <a:r>
              <a:rPr lang="en-US" sz="11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&gt; 0.20  — retrain signal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6400800" y="3886200"/>
            <a:ext cx="2532888" cy="1005840"/>
          </a:xfrm>
          <a:prstGeom prst="rect">
            <a:avLst/>
          </a:prstGeom>
          <a:solidFill>
            <a:srgbClr val="FFFFFF"/>
          </a:solidFill>
          <a:ln w="9525">
            <a:solidFill>
              <a:srgbClr val="C5CFE8"/>
            </a:solidFill>
            <a:prstDash val="solid"/>
          </a:ln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5" name="Shape 12"/>
          <p:cNvSpPr/>
          <p:nvPr/>
        </p:nvSpPr>
        <p:spPr>
          <a:xfrm>
            <a:off x="6400800" y="3886200"/>
            <a:ext cx="64008" cy="1005840"/>
          </a:xfrm>
          <a:prstGeom prst="rect">
            <a:avLst/>
          </a:prstGeom>
          <a:solidFill>
            <a:srgbClr val="1E8449"/>
          </a:solidFill>
          <a:ln w="12700">
            <a:solidFill>
              <a:srgbClr val="1E844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3"/>
          <p:cNvSpPr/>
          <p:nvPr/>
        </p:nvSpPr>
        <p:spPr>
          <a:xfrm>
            <a:off x="6583680" y="3959352"/>
            <a:ext cx="2267712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5000"/>
              </a:lnSpc>
              <a:buNone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 source: script 05</a:t>
            </a:r>
            <a:endParaRPr lang="en-US" sz="1100" dirty="0"/>
          </a:p>
          <a:p>
            <a:pPr marL="0" indent="0">
              <a:lnSpc>
                <a:spcPct val="135000"/>
              </a:lnSpc>
              <a:buNone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feat_discrimination.json</a:t>
            </a:r>
            <a:endParaRPr lang="en-US" sz="1100" dirty="0"/>
          </a:p>
          <a:p>
            <a:pPr marL="0" indent="0">
              <a:lnSpc>
                <a:spcPct val="135000"/>
              </a:lnSpc>
              <a:buNone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Ranked by disc_power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65760" cy="5143500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548640" y="164592"/>
            <a:ext cx="82296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Takeaways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804672"/>
            <a:ext cx="8046720" cy="36576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548640" y="960120"/>
            <a:ext cx="502920" cy="822960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548640" y="960120"/>
            <a:ext cx="502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143000" y="996696"/>
            <a:ext cx="77266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C8D9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Imbalance is the primary challenge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143000" y="1325880"/>
            <a:ext cx="772668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A0B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577:1 ratio invalidates accuracy and ROC AUC. Calibrating contamination to the true fraud rate (0.17%) and optimising the threshold by F1 are the critical fixes for unsupervised detection.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548640" y="1965960"/>
            <a:ext cx="502920" cy="822960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548640" y="1965960"/>
            <a:ext cx="502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143000" y="2002536"/>
            <a:ext cx="77266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C8D9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Unsupervised detects; supervised catches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43000" y="2331720"/>
            <a:ext cx="772668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A0B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Isolation Forest (F1=0.311, PR AUC=0.189) provides a no-label baseline. Adding labels with class-weighted RF pushes F1 to 0.905 — a 3× gain. Use IsoForest where labels are absent; supervised when available.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48640" y="2971800"/>
            <a:ext cx="502920" cy="822960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548640" y="2971800"/>
            <a:ext cx="502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1143000" y="3008376"/>
            <a:ext cx="77266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C8D9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 selection must be objective, not assumed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1143000" y="3337560"/>
            <a:ext cx="772668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A0B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28 PCA components are scored by SCM suitability (disc_power × |std_separation|). V14 wins with score 3.497 vs V12 at 2.897. Hardcoding a feature without this test risks building the model on a sub-optimal axis.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548640" y="3977640"/>
            <a:ext cx="502920" cy="822960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548640" y="3977640"/>
            <a:ext cx="502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1143000" y="4014216"/>
            <a:ext cx="77266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C8D9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Temporal validation exposes model fragility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1143000" y="4343400"/>
            <a:ext cx="772668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A0B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Walk-forward CV over 8-hour blocks reveals IsoForest PR AUC swings from 0.018 to 0.585 across folds — effectively unstable. RF balanced stays in the 0.74–0.82 band. PSI drift monitoring across the top-5 discriminating features provides an early retrain signal.</a:t>
            </a:r>
            <a:endParaRPr lang="en-US" sz="11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12</TotalTime>
  <Words>1179</Words>
  <Application>Microsoft Macintosh PowerPoint</Application>
  <PresentationFormat>On-screen Show (16:9)</PresentationFormat>
  <Paragraphs>185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Credit Card Fraud Detection</dc:title>
  <dc:subject>PptxGenJS Presentation</dc:subject>
  <dc:creator>Ella Ndalla</dc:creator>
  <cp:lastModifiedBy>Ella Ndalla</cp:lastModifiedBy>
  <cp:revision>2</cp:revision>
  <dcterms:created xsi:type="dcterms:W3CDTF">2026-05-18T19:18:44Z</dcterms:created>
  <dcterms:modified xsi:type="dcterms:W3CDTF">2026-06-13T14:51:21Z</dcterms:modified>
</cp:coreProperties>
</file>