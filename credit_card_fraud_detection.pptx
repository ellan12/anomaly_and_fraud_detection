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8" r:id="rId19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19" Type="http://schemas.openxmlformats.org/officeDocument/2006/relationships/slide" Target="slides/slide13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86224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4343400"/>
            <a:ext cx="8778240" cy="800100"/>
          </a:xfrm>
          <a:prstGeom prst="rect">
            <a:avLst/>
          </a:prstGeom>
          <a:solidFill>
            <a:srgbClr val="2A3D8F"/>
          </a:solidFill>
          <a:ln w="12700">
            <a:solidFill>
              <a:srgbClr val="2A3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8046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</a:t>
            </a:r>
            <a:endParaRPr lang="en-US" sz="4600" dirty="0"/>
          </a:p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640080" y="2651760"/>
            <a:ext cx="5029200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8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 ·  Class Imbalance Handling  ·  Feature Discrimination  ·  Temporal Validation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3337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 ·  SMOTE + Random Forest  ·  Walk-Forward CV  ·  PSI Drift Monitoring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441655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Project  ·  Python · scikit-learn · statsmodels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F0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82296" cy="45765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Challenge: Extreme Class Imbalance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749808"/>
            <a:ext cx="25146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C5C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82296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284,807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228600" y="157276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transactions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749808"/>
            <a:ext cx="25146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C5C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0" y="82296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577 : 1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200400" y="157276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 ratio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749808"/>
            <a:ext cx="25146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C5C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172200" y="82296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0.17%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6172200" y="157276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  (492 cases)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8600" y="2286000"/>
            <a:ext cx="8686800" cy="2633472"/>
          </a:xfrm>
          <a:prstGeom prst="rect">
            <a:avLst/>
          </a:prstGeom>
          <a:solidFill>
            <a:srgbClr val="FFFFFF"/>
          </a:solidFill>
          <a:ln w="9525">
            <a:solidFill>
              <a:srgbClr val="C5C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28600" y="2286000"/>
            <a:ext cx="64008" cy="2633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" y="239572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standard metrics fail on this dataset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11480" y="278892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</a:t>
            </a: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A model that flags nothing achieves 99.83% accuracy — catching zero fraud.  </a:t>
            </a: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is not a metric here.</a:t>
            </a:r>
            <a:endParaRPr lang="en-US" sz="13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AUC:</a:t>
            </a: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Reaches 0.955 even with our unsupervised model — inflated by the 284,315-strong majority class.</a:t>
            </a:r>
            <a:endParaRPr lang="en-US" sz="13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metrics:</a:t>
            </a: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Precision, Recall, F1, PR AUC, and MCC — all calibrated to the minority (fraud) class.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F0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82296" cy="45765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Approach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1168" y="777240"/>
            <a:ext cx="2103120" cy="4069080"/>
          </a:xfrm>
          <a:prstGeom prst="rect">
            <a:avLst/>
          </a:prstGeom>
          <a:solidFill>
            <a:srgbClr val="FFFFFF"/>
          </a:solidFill>
          <a:ln w="9525">
            <a:solidFill>
              <a:srgbClr val="C5C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01168" y="777240"/>
            <a:ext cx="21031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01168" y="7772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00–03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01168" y="13258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Experiments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2608" y="1874520"/>
            <a:ext cx="19202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creditcard.csv</a:t>
            </a:r>
            <a:endParaRPr lang="en-US" sz="12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analysis</a:t>
            </a:r>
            <a:endParaRPr lang="en-US" sz="12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/ time-series /</a:t>
            </a:r>
            <a:endParaRPr lang="en-US" sz="12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anomaly probes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304288" y="2834640"/>
            <a:ext cx="12801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432304" y="777240"/>
            <a:ext cx="2103120" cy="4069080"/>
          </a:xfrm>
          <a:prstGeom prst="rect">
            <a:avLst/>
          </a:prstGeom>
          <a:solidFill>
            <a:srgbClr val="FFFFFF"/>
          </a:solidFill>
          <a:ln w="9525">
            <a:solidFill>
              <a:srgbClr val="C5C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432304" y="777240"/>
            <a:ext cx="2103120" cy="502920"/>
          </a:xfrm>
          <a:prstGeom prst="rect">
            <a:avLst/>
          </a:prstGeom>
          <a:solidFill>
            <a:srgbClr val="2A3D8F"/>
          </a:solidFill>
          <a:ln w="12700">
            <a:solidFill>
              <a:srgbClr val="2A3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432304" y="7772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432304" y="13258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23744" y="1874520"/>
            <a:ext cx="19202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</a:t>
            </a:r>
            <a:endParaRPr lang="en-US" sz="12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Contamination fix</a:t>
            </a:r>
            <a:endParaRPr lang="en-US" sz="12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calibration</a:t>
            </a:r>
            <a:endParaRPr lang="en-US" sz="12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+ RF comparison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35424" y="2834640"/>
            <a:ext cx="12801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63440" y="777240"/>
            <a:ext cx="2103120" cy="4069080"/>
          </a:xfrm>
          <a:prstGeom prst="rect">
            <a:avLst/>
          </a:prstGeom>
          <a:solidFill>
            <a:srgbClr val="FFFFFF"/>
          </a:solidFill>
          <a:ln w="9525">
            <a:solidFill>
              <a:srgbClr val="C5C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63440" y="777240"/>
            <a:ext cx="210312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663440" y="7772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663440" y="13258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Discrimination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54880" y="1874520"/>
            <a:ext cx="19202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SCM suitability score</a:t>
            </a:r>
            <a:endParaRPr lang="en-US" sz="12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|AUROC − 0.5| × |sep|</a:t>
            </a:r>
            <a:endParaRPr lang="en-US" sz="12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PCA ranking</a:t>
            </a:r>
            <a:endParaRPr lang="en-US" sz="12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feature: V14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766560" y="2834640"/>
            <a:ext cx="12801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894576" y="777240"/>
            <a:ext cx="2103120" cy="4069080"/>
          </a:xfrm>
          <a:prstGeom prst="rect">
            <a:avLst/>
          </a:prstGeom>
          <a:solidFill>
            <a:srgbClr val="FFFFFF"/>
          </a:solidFill>
          <a:ln w="9525">
            <a:solidFill>
              <a:srgbClr val="C5C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894576" y="777240"/>
            <a:ext cx="2103120" cy="502920"/>
          </a:xfrm>
          <a:prstGeom prst="rect">
            <a:avLst/>
          </a:prstGeom>
          <a:solidFill>
            <a:srgbClr val="5D3A8E"/>
          </a:solidFill>
          <a:ln w="12700">
            <a:solidFill>
              <a:srgbClr val="5D3A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894576" y="7772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894576" y="13258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D3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Validation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86016" y="1874520"/>
            <a:ext cx="19202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Walk-forward CV</a:t>
            </a:r>
            <a:endParaRPr lang="en-US" sz="12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folds / 8-hour blocks</a:t>
            </a:r>
            <a:endParaRPr lang="en-US" sz="12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IsoForest vs RF balanced</a:t>
            </a:r>
            <a:endParaRPr lang="en-US" sz="12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 multi-feature drift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01168" y="4846320"/>
            <a:ext cx="8686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results produced by 7 Python scripts (00–06) operating on 284,807 real credit card transactions.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F0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82296" cy="45765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Detection: Three Controlled Experiments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1168" y="749808"/>
            <a:ext cx="283464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01168" y="749808"/>
            <a:ext cx="283464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01168" y="74980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1: Point Anomaly</a:t>
            </a:r>
            <a:endParaRPr lang="en-US" sz="1150" dirty="0"/>
          </a:p>
        </p:txBody>
      </p:sp>
      <p:pic>
        <p:nvPicPr>
          <p:cNvPr id="8" name="Image 0" descr="/sessions/stoic-brave-volta/mnt/Fraud_Detection/python/outputs/exp1_point_anomalie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92608" y="1170432"/>
            <a:ext cx="2651760" cy="21488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29768" y="3383280"/>
            <a:ext cx="2377440" cy="256032"/>
          </a:xfrm>
          <a:prstGeom prst="rect">
            <a:avLst/>
          </a:prstGeom>
          <a:solidFill>
            <a:srgbClr val="EDF0FB"/>
          </a:solidFill>
          <a:ln w="6350">
            <a:solidFill>
              <a:srgbClr val="C5C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29768" y="33832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99th-pct threshold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10896" y="3703320"/>
            <a:ext cx="261518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outlier lifted 40 units above a Gaussian cluster. IsoForest correctly isolates the lone deviant.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182112" y="749808"/>
            <a:ext cx="283464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182112" y="749808"/>
            <a:ext cx="2834640" cy="365760"/>
          </a:xfrm>
          <a:prstGeom prst="rect">
            <a:avLst/>
          </a:prstGeom>
          <a:solidFill>
            <a:srgbClr val="2A3D8F"/>
          </a:solidFill>
          <a:ln w="12700">
            <a:solidFill>
              <a:srgbClr val="2A3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182112" y="74980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2: Time-Series Spikes</a:t>
            </a:r>
            <a:endParaRPr lang="en-US" sz="1150" dirty="0"/>
          </a:p>
        </p:txBody>
      </p:sp>
      <p:pic>
        <p:nvPicPr>
          <p:cNvPr id="15" name="Image 1" descr="/sessions/stoic-brave-volta/mnt/Fraud_Detection/python/outputs/exp2_iforest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273552" y="1170432"/>
            <a:ext cx="2651760" cy="214884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3410712" y="3383280"/>
            <a:ext cx="2377440" cy="256032"/>
          </a:xfrm>
          <a:prstGeom prst="rect">
            <a:avLst/>
          </a:prstGeom>
          <a:solidFill>
            <a:srgbClr val="EDF0FB"/>
          </a:solidFill>
          <a:ln w="6350">
            <a:solidFill>
              <a:srgbClr val="C5C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3410712" y="33832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70th-pct + STL/IQR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3291840" y="3703320"/>
            <a:ext cx="261518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trend with 2 injected spikes. IsoForest (IQR=70%) + STL decomposition flags both reliably.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6163056" y="749808"/>
            <a:ext cx="283464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6163056" y="749808"/>
            <a:ext cx="2834640" cy="3657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6163056" y="74980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3: Satellite Cluster</a:t>
            </a:r>
            <a:endParaRPr lang="en-US" sz="1150" dirty="0"/>
          </a:p>
        </p:txBody>
      </p:sp>
      <p:pic>
        <p:nvPicPr>
          <p:cNvPr id="22" name="Image 2" descr="/sessions/stoic-brave-volta/mnt/Fraud_Detection/python/outputs/exp3_cluster_anomalies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254496" y="1170432"/>
            <a:ext cx="2651760" cy="214884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6391656" y="3383280"/>
            <a:ext cx="2377440" cy="256032"/>
          </a:xfrm>
          <a:prstGeom prst="rect">
            <a:avLst/>
          </a:prstGeom>
          <a:solidFill>
            <a:srgbClr val="EDF0FB"/>
          </a:solidFill>
          <a:ln w="6350">
            <a:solidFill>
              <a:srgbClr val="C5C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6391656" y="33832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80th-pct threshold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6272784" y="3703320"/>
            <a:ext cx="261518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cluster at (50,50) + satellite cluster at (80,80). Model flags the remote group as collective anomalies.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F0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82296" cy="45765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— and Why contamination='auto' Fails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1168" y="749808"/>
            <a:ext cx="402336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01168" y="749808"/>
            <a:ext cx="64008" cy="4114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84048" y="84124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Isolation Forest Works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4048" y="1261872"/>
            <a:ext cx="37490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Randomly select a feature and a random split value</a:t>
            </a:r>
            <a:endParaRPr lang="en-US" sz="12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each point is isolated in its own partition</a:t>
            </a:r>
            <a:endParaRPr lang="en-US" sz="12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 require fewer splits → shorter average path length</a:t>
            </a:r>
            <a:endParaRPr lang="en-US" sz="12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— no labels needed during training</a:t>
            </a:r>
            <a:endParaRPr lang="en-US" sz="12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on large datasets with subsampling per tree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84048" y="373075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config: 100 trees · max_samples='auto' · n_jobs=-1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07408" y="749808"/>
            <a:ext cx="452628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407408" y="749808"/>
            <a:ext cx="64008" cy="41148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90288" y="84124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contamination Fix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90288" y="1261872"/>
            <a:ext cx="4160520" cy="1188720"/>
          </a:xfrm>
          <a:prstGeom prst="rect">
            <a:avLst/>
          </a:prstGeom>
          <a:solidFill>
            <a:srgbClr val="FDF2F2"/>
          </a:solidFill>
          <a:ln w="9525">
            <a:solidFill>
              <a:srgbClr val="E8B4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81728" y="1316736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contamination='auto'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81728" y="1627632"/>
            <a:ext cx="3977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 maps 'auto' → 0.10 (10%)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Expects ~28,480 anomalies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fraud: 492 (0.17%)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90288" y="2578608"/>
            <a:ext cx="4160520" cy="1188720"/>
          </a:xfrm>
          <a:prstGeom prst="rect">
            <a:avLst/>
          </a:prstGeom>
          <a:solidFill>
            <a:srgbClr val="EEF8F2"/>
          </a:solidFill>
          <a:ln w="9525">
            <a:solidFill>
              <a:srgbClr val="A8D5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81728" y="2633472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contamination = fraud_rate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81728" y="2944368"/>
            <a:ext cx="3977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contamination = 0.001727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Calibrates model to true anomaly fraction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now expects exactly 492 anomalies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90288" y="388620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IsolationForest(n_estimators=100, contamination=fraud_rate, random_state=1234)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F0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82296" cy="45765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Performance: ROC Flatters, PR Tells the Truth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1168" y="749808"/>
            <a:ext cx="416052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84124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  —  AUC: 0.955</a:t>
            </a:r>
            <a:endParaRPr lang="en-US" sz="1400" dirty="0"/>
          </a:p>
        </p:txBody>
      </p:sp>
      <p:pic>
        <p:nvPicPr>
          <p:cNvPr id="7" name="Image 0" descr="/sessions/stoic-brave-volta/mnt/Fraud_Detection/python/outputs/fraud_roc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234440"/>
            <a:ext cx="3886200" cy="26334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0" y="749808"/>
            <a:ext cx="416052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681728" y="84124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Curve  —  AUC: 0.189</a:t>
            </a:r>
            <a:endParaRPr lang="en-US" sz="1400" dirty="0"/>
          </a:p>
        </p:txBody>
      </p:sp>
      <p:pic>
        <p:nvPicPr>
          <p:cNvPr id="10" name="Image 1" descr="/sessions/stoic-brave-volta/mnt/Fraud_Detection/python/outputs/fraud_pr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81728" y="1234440"/>
            <a:ext cx="3886200" cy="263347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01168" y="4096512"/>
            <a:ext cx="41605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5C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320040" y="4151376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AUC is inflated because the 284K non-fraud majority dominates the FPR denominator. Even a weak model scores well.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572000" y="4096512"/>
            <a:ext cx="41605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5C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4681728" y="4151376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AUC of 0.189 vs the no-skill baseline of 0.0017 shows the model is meaningful — but unsupervised has limits.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F0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82296" cy="45765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Operating Point: Three Thresholds</a:t>
            </a:r>
            <a:endParaRPr lang="en-US" sz="2000" dirty="0"/>
          </a:p>
        </p:txBody>
      </p:sp>
      <p:pic>
        <p:nvPicPr>
          <p:cNvPr id="5" name="Image 0" descr="/sessions/stoic-brave-volta/mnt/Fraud_Detection/python/outputs/fraud_threshold_compar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01168" y="749808"/>
            <a:ext cx="5230368" cy="3108960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32120" y="749808"/>
          <a:ext cx="3410712" cy="1828800"/>
        </p:xfrm>
        <a:graphic>
          <a:graphicData uri="http://schemas.openxmlformats.org/drawingml/2006/table">
            <a:tbl>
              <a:tblPr/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99th-pct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2,849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Fraud-rate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F1-optimal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532120" y="3154680"/>
            <a:ext cx="3410712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5C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650992" y="3218688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99th-pct: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in 10 flags are false alarms (Precision = 0.109)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532120" y="4023360"/>
            <a:ext cx="3410712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5C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5650992" y="4096512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F1-optimal: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balance — 163 TP, 392 FP, F1 = 0.311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201168" y="4023360"/>
            <a:ext cx="5166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selection is a business decision: high Recall = catch more fraud; high Precision = fewer wasted investigations.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F0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82296" cy="45765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vs Unsupervised: The Value of Labels</a:t>
            </a:r>
            <a:endParaRPr lang="en-US" sz="2000" dirty="0"/>
          </a:p>
        </p:txBody>
      </p:sp>
      <p:pic>
        <p:nvPicPr>
          <p:cNvPr id="5" name="Image 0" descr="/sessions/stoic-brave-volta/mnt/Fraud_Detection/python/outputs/fraud_anomaly_scatte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01168" y="749808"/>
            <a:ext cx="3977640" cy="3246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1168" y="402336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V12 vs V15: anomaly-flagged (red) vs clean (dark)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315968" y="749808"/>
            <a:ext cx="461772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315968" y="749808"/>
            <a:ext cx="64008" cy="4114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498848" y="868680"/>
            <a:ext cx="4315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Comparison  (5-fold stratified CV)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98848" y="1298448"/>
          <a:ext cx="4315970" cy="1664208"/>
        </p:xfrm>
        <a:graphic>
          <a:graphicData uri="http://schemas.openxmlformats.org/drawingml/2006/table">
            <a:tbl>
              <a:tblPr/>
              <a:tblGrid>
                <a:gridCol w="8631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31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31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31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31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Isolation Forest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Unsupervised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balanced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SMOTE + RF*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i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run*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4498848" y="3200400"/>
            <a:ext cx="4315968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Key insight: </a:t>
            </a: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class_weight='balanced' RF brings F1 from 0.311 (unsupervised) to 0.905 — a 3× gain when labels are available. *SMOTE variant requires imbalanced-learn (pip install imbalanced-learn). The cost is requiring labelled training data, which may not exist at deployment.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F0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82296" cy="45765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05: Objective PCA Feature Ranking for Model Inputs</a:t>
            </a:r>
            <a:endParaRPr lang="en-US" sz="2000" dirty="0"/>
          </a:p>
        </p:txBody>
      </p:sp>
      <p:pic>
        <p:nvPicPr>
          <p:cNvPr id="5" name="Image 0" descr="/sessions/stoic-brave-volta/mnt/Fraud_Detection/python/outputs/feature_scm_suitabilit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01168" y="749808"/>
            <a:ext cx="5394960" cy="35204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42432" y="749808"/>
            <a:ext cx="3200400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C5C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742432" y="749808"/>
            <a:ext cx="64008" cy="15727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925312" y="84124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SCM Suitability Score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25312" y="1216152"/>
            <a:ext cx="288036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disc_power × |std_sep|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disc_power = |AUROC − 0.5|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std_sep = (fraud_mean − nf_mean) / nf_std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Eligible: fraud &lt; non-fraud direction only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742432" y="2423160"/>
            <a:ext cx="32004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C5C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742432" y="2423160"/>
            <a:ext cx="64008" cy="1234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925312" y="2514600"/>
            <a:ext cx="2834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Winner: V14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925312" y="2834640"/>
            <a:ext cx="2834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scm_score = 3.497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disc_power = 0.449   |sep| = 7.79σ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V12 rank #2 (score = 2.897)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742432" y="3749040"/>
            <a:ext cx="32004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5742432" y="3749040"/>
            <a:ext cx="64008" cy="114300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925312" y="3840480"/>
            <a:ext cx="2834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925312" y="4169664"/>
            <a:ext cx="2880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feature is pre-selected. Script 05 determines the donor-stratification axis programmatically on every run.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201168" y="4361688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28 PCA components ranked — V14 leads on combined score; V12 leads on raw disc_power alone.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DF0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82296" cy="45765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06: Walk-Forward Temporal Validation</a:t>
            </a:r>
            <a:endParaRPr lang="en-US" sz="2000" dirty="0"/>
          </a:p>
        </p:txBody>
      </p:sp>
      <p:pic>
        <p:nvPicPr>
          <p:cNvPr id="5" name="Image 0" descr="/sessions/stoic-brave-volta/mnt/Fraud_Detection/python/outputs/temporal_metrics_by_fol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08663" y="749808"/>
            <a:ext cx="5394960" cy="2880360"/>
          </a:xfrm>
          <a:prstGeom prst="rect">
            <a:avLst/>
          </a:prstGeom>
        </p:spPr>
      </p:pic>
      <p:pic>
        <p:nvPicPr>
          <p:cNvPr id="6" name="Image 1" descr="/sessions/stoic-brave-volta/mnt/Fraud_Detection/python/outputs/temporal_vs_random_comparison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01168" y="3675888"/>
            <a:ext cx="5394960" cy="129844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742432" y="749808"/>
            <a:ext cx="3200400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C5C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5742432" y="749808"/>
            <a:ext cx="64008" cy="15727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5925312" y="841248"/>
            <a:ext cx="2834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Design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925312" y="1170432"/>
            <a:ext cx="288036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h split into 6 × 8-hour blocks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expanding-window folds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→ Val → Test per fold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calibrated on val set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742432" y="2423160"/>
            <a:ext cx="32004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C5C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5742432" y="2423160"/>
            <a:ext cx="64008" cy="12344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5925312" y="2514600"/>
            <a:ext cx="2834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IsoForest — Unstable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925312" y="2834640"/>
            <a:ext cx="2834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AUC range: 0.018 – 0.585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variance (std ≈ 0.23)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 shift breaks calibration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742432" y="3749040"/>
            <a:ext cx="320040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C5C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5742432" y="3749040"/>
            <a:ext cx="64008" cy="129844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5925312" y="3840480"/>
            <a:ext cx="2834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Balanced — Robust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5925312" y="4169664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AUC range: 0.743 – 0.818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variance (std ≈ 0.03)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class_weight='balanced' stabilises across temporal shifts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DF0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82296" cy="45765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Stability Index: Multi-Feature Drift Monitoring</a:t>
            </a:r>
            <a:endParaRPr lang="en-US" sz="2000" dirty="0"/>
          </a:p>
        </p:txBody>
      </p:sp>
      <p:pic>
        <p:nvPicPr>
          <p:cNvPr id="5" name="Image 0" descr="/sessions/stoic-brave-volta/mnt/Fraud_Detection/python/outputs/temporal_psi_drif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01168" y="749808"/>
            <a:ext cx="6035040" cy="4160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0" y="749808"/>
            <a:ext cx="2532888" cy="1536192"/>
          </a:xfrm>
          <a:prstGeom prst="rect">
            <a:avLst/>
          </a:prstGeom>
          <a:solidFill>
            <a:srgbClr val="FFFFFF"/>
          </a:solidFill>
          <a:ln w="9525">
            <a:solidFill>
              <a:srgbClr val="C5C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400800" y="749808"/>
            <a:ext cx="64008" cy="15361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583680" y="84124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Multi-Feature PSI?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583680" y="1188720"/>
            <a:ext cx="22677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hardcoded feature misses drift in the rest of the feature space. PSI is computed across the top-5 most discriminating PCA components.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0" y="2377440"/>
            <a:ext cx="253288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5C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400800" y="2377440"/>
            <a:ext cx="64008" cy="14173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583680" y="2468880"/>
            <a:ext cx="2240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 Thresholds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583680" y="2798064"/>
            <a:ext cx="22677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0.10  — stable, no action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 – 0.20  — monitor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0.20  — retrain signal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400800" y="3886200"/>
            <a:ext cx="2532888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C5C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400800" y="3886200"/>
            <a:ext cx="64008" cy="100584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583680" y="3959352"/>
            <a:ext cx="22677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source: script 05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feat_discrimination.json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disc_power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804672"/>
            <a:ext cx="804672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502920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996696"/>
            <a:ext cx="7726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 is the primary challenge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325880"/>
            <a:ext cx="7726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0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577:1 ratio invalidates accuracy and ROC AUC. Calibrating contamination to the true fraud rate (0.17%) and optimising the threshold by F1 are the critical fixes for unsupervised detection.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1965960"/>
            <a:ext cx="502920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196596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" y="2002536"/>
            <a:ext cx="7726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detects; supervised catches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2331720"/>
            <a:ext cx="7726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0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(F1=0.311, PR AUC=0.189) provides a no-label baseline. Adding labels with class-weighted RF pushes F1 to 0.905 — a 3× gain. Use IsoForest where labels are absent; supervised when available.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971800"/>
            <a:ext cx="502920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297180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43000" y="3008376"/>
            <a:ext cx="7726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 must be objective, not assumed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43000" y="3337560"/>
            <a:ext cx="7726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0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28 PCA components are scored by SCM suitability (disc_power × |std_separation|). V14 wins with score 3.497 vs V12 at 2.897. Hardcoding a feature without this test risks building the model on a sub-optimal axis.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977640"/>
            <a:ext cx="502920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397764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43000" y="4014216"/>
            <a:ext cx="7726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validation exposes model fragility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43000" y="4343400"/>
            <a:ext cx="7726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0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Walk-forward CV over 8-hour blocks reveals IsoForest PR AUC swings from 0.018 to 0.585 across folds — effectively unstable. RF balanced stays in the 0.74–0.82 band. PSI drift monitoring across the top-5 discriminating features provides an early retrain signal.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b">
    <p:bg>
      <p:bgPr>
        <a:solidFill>
          <a:srgbClr val="EDF0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82296" cy="45765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Questions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749808"/>
            <a:ext cx="25146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C5C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82296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228600" y="157276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patterns, no labels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749808"/>
            <a:ext cx="25146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C5C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0" y="82296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200400" y="157276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signals indicate fraud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72200" y="749808"/>
            <a:ext cx="25146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C5C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172200" y="82296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6172200" y="157276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viability over time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" y="2286000"/>
            <a:ext cx="8686800" cy="2633472"/>
          </a:xfrm>
          <a:prstGeom prst="rect">
            <a:avLst/>
          </a:prstGeom>
          <a:solidFill>
            <a:srgbClr val="FFFFFF"/>
          </a:solidFill>
          <a:ln w="9525">
            <a:solidFill>
              <a:srgbClr val="C5CF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28600" y="2286000"/>
            <a:ext cx="64008" cy="2633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" y="239572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question asks, in full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11480" y="278892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— Pattern detection without labels:</a:t>
            </a: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Can fraud patterns and the transactions behind them be found in unlabeled data, using anomaly behavior alone rather than supervision?</a:t>
            </a:r>
            <a:endParaRPr lang="en-US" sz="13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— Labels that signal fraud:</a:t>
            </a: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Once labels exist, which of the 28 anonymized features actually separate fraud from non-fraud — determined objectively, not assumed?</a:t>
            </a:r>
            <a:endParaRPr lang="en-US" sz="13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— Viability and longevity:</a:t>
            </a: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Would a fraud-detection model trained today still be trustworthy weeks or months later, as fraud patterns shift over time?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1179</Words>
  <Application>Microsoft Macintosh PowerPoint</Application>
  <PresentationFormat>On-screen Show (16:9)</PresentationFormat>
  <Paragraphs>185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Card Fraud Detection</dc:title>
  <dc:subject>PptxGenJS Presentation</dc:subject>
  <dc:creator>Ella Ndalla</dc:creator>
  <cp:lastModifiedBy>Ella Ndalla</cp:lastModifiedBy>
  <cp:revision>2</cp:revision>
  <dcterms:created xsi:type="dcterms:W3CDTF">2026-05-18T19:18:44Z</dcterms:created>
  <dcterms:modified xsi:type="dcterms:W3CDTF">2026-06-13T14:51:21Z</dcterms:modified>
</cp:coreProperties>
</file>